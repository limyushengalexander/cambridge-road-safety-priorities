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e392db25fc4022" /><Relationship Type="http://schemas.openxmlformats.org/officeDocument/2006/relationships/extended-properties" Target="/docProps/app.xml" Id="Ra61f6135d3094968" /><Relationship Type="http://schemas.openxmlformats.org/officeDocument/2006/relationships/officeDocument" Target="/ppt/presentation.xml" Id="R69e9b2c85c344305" /></Relationships>
</file>

<file path=ppt/presentation.xml><?xml version="1.0" encoding="utf-8"?>
<p:presentation xmlns:p="http://schemas.openxmlformats.org/presentationml/2006/main">
  <p:sldMasterIdLst>
    <p:sldMasterId xmlns:r="http://schemas.openxmlformats.org/officeDocument/2006/relationships" id="2147483648" r:id="Rab91b629d08d4e20"/>
  </p:sldMasterIdLst>
  <p:notesMasterIdLst>
    <p:notesMasterId xmlns:r="http://schemas.openxmlformats.org/officeDocument/2006/relationships" r:id="R1dcf45dc473b4480"/>
  </p:notesMasterIdLst>
  <p:sldIdLst>
    <p:sldId xmlns:r="http://schemas.openxmlformats.org/officeDocument/2006/relationships" id="256" r:id="Re76158ef317640fd"/>
    <p:sldId xmlns:r="http://schemas.openxmlformats.org/officeDocument/2006/relationships" id="257" r:id="Re6b2ab7c59b64b75"/>
    <p:sldId xmlns:r="http://schemas.openxmlformats.org/officeDocument/2006/relationships" id="258" r:id="Re208c87f542542fb"/>
    <p:sldId xmlns:r="http://schemas.openxmlformats.org/officeDocument/2006/relationships" id="259" r:id="Rbe757ea0e849472e"/>
    <p:sldId xmlns:r="http://schemas.openxmlformats.org/officeDocument/2006/relationships" id="260" r:id="Re213798fa88a4265"/>
    <p:sldId xmlns:r="http://schemas.openxmlformats.org/officeDocument/2006/relationships" id="261" r:id="R20d19ea00df244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cc2fa5dbf44c08" /><Relationship Type="http://schemas.openxmlformats.org/officeDocument/2006/relationships/slideMaster" Target="/ppt/slideMasters/slideMaster1.xml" Id="Rab91b629d08d4e20" /><Relationship Type="http://schemas.openxmlformats.org/officeDocument/2006/relationships/notesMaster" Target="/ppt/notesMasters/notesMaster1.xml" Id="R1dcf45dc473b4480" /><Relationship Type="http://schemas.openxmlformats.org/officeDocument/2006/relationships/presProps" Target="/ppt/presProps.xml" Id="R0d31860787f64c25" /><Relationship Type="http://schemas.openxmlformats.org/officeDocument/2006/relationships/tableStyles" Target="/ppt/tableStyles.xml" Id="R643cb3d78ff64f68" /><Relationship Type="http://schemas.openxmlformats.org/officeDocument/2006/relationships/slide" Target="/ppt/slides/slide1.xml" Id="Re76158ef317640fd" /><Relationship Type="http://schemas.openxmlformats.org/officeDocument/2006/relationships/slide" Target="/ppt/slides/slide2.xml" Id="Re6b2ab7c59b64b75" /><Relationship Type="http://schemas.openxmlformats.org/officeDocument/2006/relationships/slide" Target="/ppt/slides/slide3.xml" Id="Re208c87f542542fb" /><Relationship Type="http://schemas.openxmlformats.org/officeDocument/2006/relationships/slide" Target="/ppt/slides/slide4.xml" Id="Rbe757ea0e849472e" /><Relationship Type="http://schemas.openxmlformats.org/officeDocument/2006/relationships/slide" Target="/ppt/slides/slide5.xml" Id="Re213798fa88a4265" /><Relationship Type="http://schemas.openxmlformats.org/officeDocument/2006/relationships/slide" Target="/ppt/slides/slide6.xml" Id="R20d19ea00df244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226e66bf844c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406fb1ce5d405c" /><Relationship Type="http://schemas.openxmlformats.org/officeDocument/2006/relationships/notesMaster" Target="/ppt/notesMasters/notesMaster1.xml" Id="R2c7c4e0623a244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e71766385c4102" /><Relationship Type="http://schemas.openxmlformats.org/officeDocument/2006/relationships/notesMaster" Target="/ppt/notesMasters/notesMaster1.xml" Id="R33ca33cc314347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1579e496214014" /><Relationship Type="http://schemas.openxmlformats.org/officeDocument/2006/relationships/notesMaster" Target="/ppt/notesMasters/notesMaster1.xml" Id="R7d894ecfcd364c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0fe3ae614e40f8" /><Relationship Type="http://schemas.openxmlformats.org/officeDocument/2006/relationships/notesMaster" Target="/ppt/notesMasters/notesMaster1.xml" Id="R071b89d69c394e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ed1733a718416a" /><Relationship Type="http://schemas.openxmlformats.org/officeDocument/2006/relationships/notesMaster" Target="/ppt/notesMasters/notesMaster1.xml" Id="Reeeed3aa3c7147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97a33c8fab49a4" /><Relationship Type="http://schemas.openxmlformats.org/officeDocument/2006/relationships/notesMaster" Target="/ppt/notesMasters/notesMaster1.xml" Id="Rf2807783f1d343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 25 seconds</a:t>
            </a:r>
          </a:p>
          <a:p xmlns:a="http://schemas.openxmlformats.org/drawingml/2006/main">
            <a:r>
              <a:t>This project asks where Cambridge should begin pedestrian and cyclist safety audits. The intended users are senior city leaders and transportation decision-makers. Using public crash reports from 2023 through 2025, it identifies six provisional locations for investigation. The goal is to focus fieldwork while making the evidence and its limits visible.</a:t>
            </a:r>
          </a:p>
          <a:p xmlns:a="http://schemas.openxmlformats.org/drawingml/2006/main">
            <a:r>
              <a:t/>
            </a:r>
          </a:p>
          <a:p xmlns:a="http://schemas.openxmlformats.org/drawingml/2006/main">
            <a:r>
              <a:t>Sources: CPD Crash Log https://data.cambridgema.gov/d/h6fp-bp8s and detailed cross-check https://data.cambridgema.gov/d/gb5w-yva3. Downloads September 17, 2026. Calculations from supplied project CSVs. Local site http://127.0.0.1:8765/ inspected September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 | 40 seconds</a:t>
            </a:r>
          </a:p>
          <a:p xmlns:a="http://schemas.openxmlformats.org/drawingml/2006/main">
            <a:r>
              <a:t>I obtained two CSVs from Cambridge’s public portal. They overlap, so the CPD Crash Log supplies the counts and the larger file serves as a cross-check. The study uses the latest three complete years represented in the downloads. Of 4,924 CPD records, 696 involve a pedestrian or cyclist. There are 438 cyclist-involved and 260 pedestrian-involved crashes, with two in both categories. Only 430 have explicit intersection pairs. The remaining 266 are an important source of uncertainty, because incomplete locations could change the shortlist.</a:t>
            </a:r>
          </a:p>
          <a:p xmlns:a="http://schemas.openxmlformats.org/drawingml/2006/main">
            <a:r>
              <a:t/>
            </a:r>
          </a:p>
          <a:p xmlns:a="http://schemas.openxmlformats.org/drawingml/2006/main">
            <a:r>
              <a:t>Sources: CPD Crash Log https://data.cambridgema.gov/d/h6fp-bp8s and detailed cross-check https://data.cambridgema.gov/d/gb5w-yva3. Downloads September 17, 2026. Calculations from supplied project CSVs. Local site http://127.0.0.1:8765/ inspected September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1:05–2:00 | 55 seconds</a:t>
            </a:r>
          </a:p>
          <a:p xmlns:a="http://schemas.openxmlformats.org/drawingml/2006/main">
            <a:r>
              <a:t>The leading recorded pair is Massachusetts Avenue and Albany Street, with nine crashes, followed by Massachusetts and Windsor with eight and Cambridge and Prospect with seven. Three other pairs tie at six, so I retain six candidates rather than make an arbitrary top-five cutoff. Together they represent 42 crashes, or 9.8 percent of the explicitly located group. Recurrence matters too: Windsor has two, three and three crashes over the period. Columbia and Hampshire has five, one and zero. These are different audit contexts. Neither pattern proves a trend or an intervention effect. Unresolved street-name variants mean these are recorded-label counts, not a complete physical-location ranking.</a:t>
            </a:r>
          </a:p>
          <a:p xmlns:a="http://schemas.openxmlformats.org/drawingml/2006/main">
            <a:r>
              <a:t/>
            </a:r>
          </a:p>
          <a:p xmlns:a="http://schemas.openxmlformats.org/drawingml/2006/main">
            <a:r>
              <a:t>Sources: CPD Crash Log https://data.cambridgema.gov/d/h6fp-bp8s and detailed cross-check https://data.cambridgema.gov/d/gb5w-yva3. Downloads September 17, 2026. Calculations from supplied project CSVs. Local site http://127.0.0.1:8765/ inspected September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2:00–3:40 | 100 seconds | LIVE DEMONSTRATION</a:t>
            </a:r>
          </a:p>
          <a:p xmlns:a="http://schemas.openxmlformats.org/drawingml/2006/main">
            <a:r>
              <a:t>Before presenting, start the local site, open http://127.0.0.1:8765/ in a browser and keep it ready. This address works only on the hosting computer while its server runs. After publication, use the public URL instead.</a:t>
            </a:r>
          </a:p>
          <a:p xmlns:a="http://schemas.openxmlformats.org/drawingml/2006/main">
            <a:r>
              <a:t>0–20 seconds: switch to the browser and click Explore the Data. Point out the year, road-user and intersection controls. Set Year to 2025 and Road-user involvement to Pedestrian-involved. Explain that the map, ranking and heatmap update, while the headline study totals and fixed shortlist stay unchanged.</a:t>
            </a:r>
          </a:p>
          <a:p xmlns:a="http://schemas.openxmlformats.org/drawingml/2006/main">
            <a:r>
              <a:t>20–45 seconds: show the map and ranking. Explain that the full-study map contains 322 of the 696 crashes, across 200 matched GIS nodes. A missing marker does not mean no crashes.</a:t>
            </a:r>
          </a:p>
          <a:p xmlns:a="http://schemas.openxmlformats.org/drawingml/2006/main">
            <a:r>
              <a:t>45–75 seconds: Reset filters, select Massachusetts Ave &amp; Windsor St under Intersection, and scroll to the weekday/hour heatmap and annual trends. Explain that intersection selection focuses the map, heatmap and annual trend, while the ranking remains a comparison across locations. Trends retain all three years and mode series. Counts of two, three and three describe recurrence without measuring risk per trip.</a:t>
            </a:r>
          </a:p>
          <a:p xmlns:a="http://schemas.openxmlformats.org/drawingml/2006/main">
            <a:r>
              <a:t>75–100 seconds: Reset filters. Open Priority Locations to show the fixed shortlist, then Methodology to show official source links, definitions and the aggregate CSV download. Return to the slides.</a:t>
            </a:r>
          </a:p>
          <a:p xmlns:a="http://schemas.openxmlformats.org/drawingml/2006/main">
            <a:r>
              <a:t>Screenshot source: actual local preview, captured September 19, 2026. If the live site becomes unavailable, use this screenshot and describe the controls without claiming a live demonstration occurred.</a:t>
            </a:r>
          </a:p>
          <a:p xmlns:a="http://schemas.openxmlformats.org/drawingml/2006/main">
            <a:r>
              <a:t/>
            </a:r>
          </a:p>
          <a:p xmlns:a="http://schemas.openxmlformats.org/drawingml/2006/main">
            <a:r>
              <a:t>Sources: CPD Crash Log https://data.cambridgema.gov/d/h6fp-bp8s and detailed cross-check https://data.cambridgema.gov/d/gb5w-yva3. Downloads September 17, 2026. Calculations from supplied project CSVs. Local site http://127.0.0.1:8765/ inspected September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3:40–4:20 | 40 seconds</a:t>
            </a:r>
          </a:p>
          <a:p xmlns:a="http://schemas.openxmlformats.org/drawingml/2006/main">
            <a:r>
              <a:t>Annual totals are 231, 238 and 227. The chart begins at zero to avoid exaggerating these differences. We cannot conclude that Cambridge became safer or more dangerous because we do not know how travel volumes changed, and reporting may be incomplete. We also have not reviewed recent street interventions. Likewise, an injury flag does not establish severity or identify the injured road user. These constraints limit capital-allocation conclusions, but they still allow targeted investigation.</a:t>
            </a:r>
          </a:p>
          <a:p xmlns:a="http://schemas.openxmlformats.org/drawingml/2006/main">
            <a:r>
              <a:t/>
            </a:r>
          </a:p>
          <a:p xmlns:a="http://schemas.openxmlformats.org/drawingml/2006/main">
            <a:r>
              <a:t>Sources: CPD Crash Log https://data.cambridgema.gov/d/h6fp-bp8s and detailed cross-check https://data.cambridgema.gov/d/gb5w-yva3. Downloads September 17, 2026. Calculations from supplied project CSVs. Local site http://127.0.0.1:8765/ inspected September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4:20–5:00 | 40 seconds</a:t>
            </a:r>
          </a:p>
          <a:p xmlns:a="http://schemas.openxmlformats.org/drawingml/2006/main">
            <a:r>
              <a:t>I recommend two actions. First, commission field safety audits at the six provisional candidates, using current conditions and each location’s recurrence pattern to guide questions. Second, reconcile street names and incomplete addresses and collect pedestrian, cyclist and vehicle volumes before comparing risk or choosing investments. The website makes this distinction visible: the present evidence supports where to investigate, while engineering judgment and further data are needed to decide what to build.</a:t>
            </a:r>
          </a:p>
          <a:p xmlns:a="http://schemas.openxmlformats.org/drawingml/2006/main">
            <a:r>
              <a:t/>
            </a:r>
          </a:p>
          <a:p xmlns:a="http://schemas.openxmlformats.org/drawingml/2006/main">
            <a:r>
              <a:t>Sources: CPD Crash Log https://data.cambridgema.gov/d/h6fp-bp8s and detailed cross-check https://data.cambridgema.gov/d/gb5w-yva3. Downloads September 17, 2026. Calculations from supplied project CSVs. Local site http://127.0.0.1:8765/ inspected September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27d4805e7e47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23e7bd83f64728" /><Relationship Type="http://schemas.openxmlformats.org/officeDocument/2006/relationships/slideLayout" Target="/ppt/slideLayouts/slideLayout1.xml" Id="Rd18f58520c9f4f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8f58520c9f4f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b93d611acb49f4" /><Relationship Type="http://schemas.openxmlformats.org/officeDocument/2006/relationships/notesSlide" Target="/ppt/notesSlides/notesSlide1.xml" Id="Rf808f289584c4e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5654f052544f9b" /><Relationship Type="http://schemas.openxmlformats.org/officeDocument/2006/relationships/chart" Target="/ppt/slides/charts/chart1.xml" Id="R5d85334f1c87475e" /><Relationship Type="http://schemas.openxmlformats.org/officeDocument/2006/relationships/notesSlide" Target="/ppt/notesSlides/notesSlide2.xml" Id="Rc83fde318ca847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93b2afb1e44e91" /><Relationship Type="http://schemas.openxmlformats.org/officeDocument/2006/relationships/chart" Target="/ppt/slides/charts/chart2.xml" Id="Rd0aed36b6c0542be" /><Relationship Type="http://schemas.openxmlformats.org/officeDocument/2006/relationships/notesSlide" Target="/ppt/notesSlides/notesSlide3.xml" Id="R56e3d821128f49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8a1c99eb464016" /><Relationship Type="http://schemas.openxmlformats.org/officeDocument/2006/relationships/image" Target="/ppt/media/image.jpeg" Id="Rf95fbea2498e4e0c" /><Relationship Type="http://schemas.openxmlformats.org/officeDocument/2006/relationships/notesSlide" Target="/ppt/notesSlides/notesSlide4.xml" Id="Rd44a6209651749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46f5898bfd43f4" /><Relationship Type="http://schemas.openxmlformats.org/officeDocument/2006/relationships/chart" Target="/ppt/slides/charts/chart3.xml" Id="Rd61f82fa471f4c26" /><Relationship Type="http://schemas.openxmlformats.org/officeDocument/2006/relationships/notesSlide" Target="/ppt/notesSlides/notesSlide5.xml" Id="Re89a1bed5a1440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fddc69306a44d2" /><Relationship Type="http://schemas.openxmlformats.org/officeDocument/2006/relationships/notesSlide" Target="/ppt/notesSlides/notesSlide6.xml" Id="Ra53e468c52894a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crashes</c:v>
          </c:tx>
          <c:spPr>
            <a:solidFill xmlns:a="http://schemas.openxmlformats.org/drawingml/2006/main">
              <a:srgbClr val="197F7C"/>
            </a:solidFill>
          </c:spPr>
          <c:cat>
            <c:strRef>
              <c:f>'Chart Data'!$A$2:$A$3</c:f>
              <c:strCache>
                <c:ptCount val="2"/>
                <c:pt idx="0">
                  <c:v>Explicit intersection pairs</c:v>
                </c:pt>
                <c:pt idx="1">
                  <c:v>No explicit intersection pair</c:v>
                </c:pt>
              </c:strCache>
            </c:strRef>
          </c:cat>
          <c:val>
            <c:numRef>
              <c:f>'Chart Data'!$B$2:$B$3</c:f>
              <c:numCache>
                <c:formatCode>General</c:formatCode>
                <c:ptCount val="2"/>
                <c:pt idx="0">
                  <c:v>430</c:v>
                </c:pt>
                <c:pt idx="1">
                  <c:v>266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3447"/>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447"/>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9525">
              <a:solidFill>
                <a:srgbClr val="DCE4E4"/>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5"/>
                </a:solidFill>
                <a:latin typeface="Calibri"/>
                <a:ea typeface="Calibri"/>
                <a:cs typeface="Calibri"/>
              </a:defRPr>
            </a:pPr>
          </a:p>
        </c:txPr>
        <c:crossAx val="48650112"/>
        <c:crossBetween val="between"/>
      </c:valAx>
      <c:spPr>
        <a:solidFill xmlns:a="http://schemas.openxmlformats.org/drawingml/2006/main">
          <a:srgbClr val="F6F8F7"/>
        </a:solidFill>
      </c:spPr>
    </c:plotArea>
    <c:plotVisOnly val="1"/>
  </c:chart>
  <c:spPr>
    <a:solidFill xmlns:a="http://schemas.openxmlformats.org/drawingml/2006/main">
      <a:srgbClr val="F6F8F7"/>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crashes</c:v>
          </c:tx>
          <c:spPr>
            <a:solidFill xmlns:a="http://schemas.openxmlformats.org/drawingml/2006/main">
              <a:srgbClr val="197F7C"/>
            </a:solidFill>
          </c:spPr>
          <c:cat>
            <c:strRef>
              <c:f>'Chart Data'!$A$2:$A$7</c:f>
              <c:strCache>
                <c:ptCount val="6"/>
                <c:pt idx="0">
                  <c:v>Massachusetts &amp; Albany</c:v>
                </c:pt>
                <c:pt idx="1">
                  <c:v>Massachusetts &amp; Windsor</c:v>
                </c:pt>
                <c:pt idx="2">
                  <c:v>Cambridge &amp; Prospect</c:v>
                </c:pt>
                <c:pt idx="3">
                  <c:v>Brattle &amp; Craigie</c:v>
                </c:pt>
                <c:pt idx="4">
                  <c:v>Columbia &amp; Hampshire</c:v>
                </c:pt>
                <c:pt idx="5">
                  <c:v>Massachusetts &amp; Vassar</c:v>
                </c:pt>
              </c:strCache>
            </c:strRef>
          </c:cat>
          <c:val>
            <c:numRef>
              <c:f>'Chart Data'!$B$2:$B$7</c:f>
              <c:numCache>
                <c:formatCode>General</c:formatCode>
                <c:ptCount val="6"/>
                <c:pt idx="0">
                  <c:v>9</c:v>
                </c:pt>
                <c:pt idx="1">
                  <c:v>8</c:v>
                </c:pt>
                <c:pt idx="2">
                  <c:v>7</c:v>
                </c:pt>
                <c:pt idx="3">
                  <c:v>6</c:v>
                </c:pt>
                <c:pt idx="4">
                  <c:v>6</c:v>
                </c:pt>
                <c:pt idx="5">
                  <c:v>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3447"/>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447"/>
                </a:solidFill>
                <a:latin typeface="Calibri"/>
                <a:ea typeface="Calibri"/>
                <a:cs typeface="Calibri"/>
              </a:defRPr>
            </a:pPr>
          </a:p>
        </c:txPr>
        <c:crossAx val="48672768"/>
      </c:catAx>
      <c:valAx>
        <c:axId val="48672768"/>
        <c:scaling>
          <c:orientation val="minMax"/>
          <c:min val="0"/>
        </c:scaling>
        <c:delete val="0"/>
        <c:axPos val="b"/>
        <c:majorGridlines>
          <c:spPr>
            <a:ln xmlns:a="http://schemas.openxmlformats.org/drawingml/2006/main" w="9525">
              <a:solidFill>
                <a:srgbClr val="DCE4E4"/>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5"/>
                </a:solidFill>
                <a:latin typeface="Calibri"/>
                <a:ea typeface="Calibri"/>
                <a:cs typeface="Calibri"/>
              </a:defRPr>
            </a:pPr>
          </a:p>
        </c:txPr>
        <c:crossAx val="48650112"/>
        <c:crossBetween val="between"/>
      </c:valAx>
      <c:spPr>
        <a:solidFill xmlns:a="http://schemas.openxmlformats.org/drawingml/2006/main">
          <a:srgbClr val="F6F8F7"/>
        </a:solidFill>
      </c:spPr>
    </c:plotArea>
    <c:plotVisOnly val="1"/>
  </c:chart>
  <c:spPr>
    <a:solidFill xmlns:a="http://schemas.openxmlformats.org/drawingml/2006/main">
      <a:srgbClr val="F6F8F7"/>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crashes</c:v>
          </c:tx>
          <c:spPr>
            <a:solidFill xmlns:a="http://schemas.openxmlformats.org/drawingml/2006/main">
              <a:srgbClr val="197F7C"/>
            </a:solidFill>
          </c:spPr>
          <c:cat>
            <c:numRef>
              <c:f>'Chart Data'!$A$2:$A$4</c:f>
              <c:numCache>
                <c:formatCode>General</c:formatCode>
                <c:ptCount val="3"/>
                <c:pt idx="0">
                  <c:v>2023</c:v>
                </c:pt>
                <c:pt idx="1">
                  <c:v>2024</c:v>
                </c:pt>
                <c:pt idx="2">
                  <c:v>2025</c:v>
                </c:pt>
              </c:numCache>
            </c:numRef>
          </c:cat>
          <c:val>
            <c:numRef>
              <c:f>'Chart Data'!$B$2:$B$4</c:f>
              <c:numCache>
                <c:formatCode>General</c:formatCode>
                <c:ptCount val="3"/>
                <c:pt idx="0">
                  <c:v>231</c:v>
                </c:pt>
                <c:pt idx="1">
                  <c:v>238</c:v>
                </c:pt>
                <c:pt idx="2">
                  <c:v>227</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3447"/>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447"/>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9525">
              <a:solidFill>
                <a:srgbClr val="DCE4E4"/>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975"/>
                </a:solidFill>
                <a:latin typeface="Calibri"/>
                <a:ea typeface="Calibri"/>
                <a:cs typeface="Calibri"/>
              </a:defRPr>
            </a:pPr>
          </a:p>
        </c:txPr>
        <c:crossAx val="48650112"/>
        <c:crossBetween val="between"/>
      </c:valAx>
      <c:spPr>
        <a:solidFill xmlns:a="http://schemas.openxmlformats.org/drawingml/2006/main">
          <a:srgbClr val="F6F8F7"/>
        </a:solidFill>
      </c:spPr>
    </c:plotArea>
    <c:plotVisOnly val="1"/>
  </c:chart>
  <c:spPr>
    <a:solidFill xmlns:a="http://schemas.openxmlformats.org/drawingml/2006/main">
      <a:srgbClr val="F6F8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8F9225-1F37-40A4-83B6-B7DDBAA477C6}"/>
              </a:ext>
            </a:extLst>
          </p:cNvPr>
          <p:cNvSpPr>
            <a:spLocks xmlns:a="http://schemas.openxmlformats.org/drawingml/2006/main" noGrp="1"/>
          </p:cNvSpPr>
          <p:nvPr/>
        </p:nvSpPr>
        <p:spPr>
          <a:xfrm xmlns:a="http://schemas.openxmlformats.org/drawingml/2006/main">
            <a:off x="571500" y="4286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Cambridge Road Safety</a:t>
            </a:r>
          </a:p>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Priorities</a:t>
            </a:r>
          </a:p>
        </p:txBody>
      </p:sp>
      <p:sp>
        <p:nvSpPr>
          <p:cNvPr id="2" name="">
            <a:extLst xmlns:a="http://schemas.openxmlformats.org/drawingml/2006/main">
              <a:ext uri="{FF2B5EF4-FFF2-40B4-BE49-F238E27FC236}">
                <a16:creationId xmlns:a16="http://schemas.microsoft.com/office/drawing/2014/main" id="{B41EA69B-4FC5-4832-8440-8A5896FD215B}"/>
              </a:ext>
            </a:extLst>
          </p:cNvPr>
          <p:cNvSpPr>
            <a:spLocks xmlns:a="http://schemas.openxmlformats.org/drawingml/2006/main" noGrp="1"/>
          </p:cNvSpPr>
          <p:nvPr/>
        </p:nvSpPr>
        <p:spPr>
          <a:xfrm xmlns:a="http://schemas.openxmlformats.org/drawingml/2006/main">
            <a:off x="571500" y="64103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975"/>
                </a:solidFill>
                <a:latin typeface="Calibri"/>
                <a:ea typeface="Calibri"/>
                <a:cs typeface="Calibri"/>
              </a:defRPr>
            </a:pPr>
            <a:r>
              <a:rPr sz="1125" b="0">
                <a:solidFill>
                  <a:srgbClr val="536975"/>
                </a:solidFill>
                <a:latin typeface="Calibri"/>
                <a:ea typeface="Calibri"/>
                <a:cs typeface="Calibri"/>
              </a:rPr>
              <a:t>CAMBRIDGE ROAD SAFETY  /  PS01  /  2023–2025</a:t>
            </a:r>
          </a:p>
        </p:txBody>
      </p:sp>
      <p:sp>
        <p:nvSpPr>
          <p:cNvPr id="3" name="">
            <a:extLst xmlns:a="http://schemas.openxmlformats.org/drawingml/2006/main">
              <a:ext uri="{FF2B5EF4-FFF2-40B4-BE49-F238E27FC236}">
                <a16:creationId xmlns:a16="http://schemas.microsoft.com/office/drawing/2014/main" id="{3909F386-061C-4084-8B2A-6104B3F10D33}"/>
              </a:ext>
            </a:extLst>
          </p:cNvPr>
          <p:cNvSpPr>
            <a:spLocks xmlns:a="http://schemas.openxmlformats.org/drawingml/2006/main" noGrp="1"/>
          </p:cNvSpPr>
          <p:nvPr/>
        </p:nvSpPr>
        <p:spPr>
          <a:xfrm xmlns:a="http://schemas.openxmlformats.org/drawingml/2006/main">
            <a:off x="11144250" y="63722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975"/>
                </a:solidFill>
                <a:latin typeface="Calibri"/>
                <a:ea typeface="Calibri"/>
                <a:cs typeface="Calibri"/>
              </a:defRPr>
            </a:pPr>
            <a:r>
              <a:rPr sz="1425" b="0">
                <a:solidFill>
                  <a:srgbClr val="536975"/>
                </a:solidFill>
                <a:latin typeface="Calibri"/>
                <a:ea typeface="Calibri"/>
                <a:cs typeface="Calibri"/>
              </a:rPr>
              <a:t>01</a:t>
            </a:r>
          </a:p>
        </p:txBody>
      </p:sp>
      <p:sp>
        <p:nvSpPr>
          <p:cNvPr id="4" name="">
            <a:extLst xmlns:a="http://schemas.openxmlformats.org/drawingml/2006/main">
              <a:ext uri="{FF2B5EF4-FFF2-40B4-BE49-F238E27FC236}">
                <a16:creationId xmlns:a16="http://schemas.microsoft.com/office/drawing/2014/main" id="{1430624E-BDA2-4E42-8CBC-7847C3E6032F}"/>
              </a:ext>
            </a:extLst>
          </p:cNvPr>
          <p:cNvSpPr>
            <a:spLocks xmlns:a="http://schemas.openxmlformats.org/drawingml/2006/main" noGrp="1"/>
          </p:cNvSpPr>
          <p:nvPr/>
        </p:nvSpPr>
        <p:spPr>
          <a:xfrm xmlns:a="http://schemas.openxmlformats.org/drawingml/2006/main">
            <a:off x="571500" y="20955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73447"/>
                </a:solidFill>
                <a:latin typeface="Calibri"/>
                <a:ea typeface="Calibri"/>
                <a:cs typeface="Calibri"/>
              </a:defRPr>
            </a:pPr>
            <a:r>
              <a:rPr sz="2850" b="0">
                <a:solidFill>
                  <a:srgbClr val="173447"/>
                </a:solidFill>
                <a:latin typeface="Calibri"/>
                <a:ea typeface="Calibri"/>
                <a:cs typeface="Calibri"/>
              </a:rPr>
              <a:t>Where should the city begin pedestrian</a:t>
            </a:r>
          </a:p>
          <a:p xmlns:a="http://schemas.openxmlformats.org/drawingml/2006/main">
            <a:pPr>
              <a:defRPr sz="2850" b="0">
                <a:solidFill>
                  <a:srgbClr val="173447"/>
                </a:solidFill>
                <a:latin typeface="Calibri"/>
                <a:ea typeface="Calibri"/>
                <a:cs typeface="Calibri"/>
              </a:defRPr>
            </a:pPr>
            <a:r>
              <a:rPr sz="2850" b="0">
                <a:solidFill>
                  <a:srgbClr val="173447"/>
                </a:solidFill>
                <a:latin typeface="Calibri"/>
                <a:ea typeface="Calibri"/>
                <a:cs typeface="Calibri"/>
              </a:rPr>
              <a:t>and cyclist safety audits?</a:t>
            </a:r>
          </a:p>
        </p:txBody>
      </p:sp>
      <p:sp>
        <p:nvSpPr>
          <p:cNvPr id="5" name="">
            <a:extLst xmlns:a="http://schemas.openxmlformats.org/drawingml/2006/main">
              <a:ext uri="{FF2B5EF4-FFF2-40B4-BE49-F238E27FC236}">
                <a16:creationId xmlns:a16="http://schemas.microsoft.com/office/drawing/2014/main" id="{94C6014A-982A-4761-A839-5F3D91AACA28}"/>
              </a:ext>
            </a:extLst>
          </p:cNvPr>
          <p:cNvSpPr>
            <a:spLocks xmlns:a="http://schemas.openxmlformats.org/drawingml/2006/main" noGrp="1"/>
          </p:cNvSpPr>
          <p:nvPr/>
        </p:nvSpPr>
        <p:spPr>
          <a:xfrm xmlns:a="http://schemas.openxmlformats.org/drawingml/2006/main">
            <a:off x="571500" y="4000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7F7C"/>
                </a:solidFill>
                <a:latin typeface="Calibri"/>
                <a:ea typeface="Calibri"/>
                <a:cs typeface="Calibri"/>
              </a:defRPr>
            </a:pPr>
            <a:r>
              <a:rPr sz="2325" b="1">
                <a:solidFill>
                  <a:srgbClr val="197F7C"/>
                </a:solidFill>
                <a:latin typeface="Calibri"/>
                <a:ea typeface="Calibri"/>
                <a:cs typeface="Calibri"/>
              </a:rPr>
              <a:t>Six provisional intersections for investigation</a:t>
            </a:r>
          </a:p>
        </p:txBody>
      </p:sp>
      <p:sp>
        <p:nvSpPr>
          <p:cNvPr id="6" name="">
            <a:extLst xmlns:a="http://schemas.openxmlformats.org/drawingml/2006/main">
              <a:ext uri="{FF2B5EF4-FFF2-40B4-BE49-F238E27FC236}">
                <a16:creationId xmlns:a16="http://schemas.microsoft.com/office/drawing/2014/main" id="{5743487C-4AAC-49BB-BABD-1F0A956D28AE}"/>
              </a:ext>
            </a:extLst>
          </p:cNvPr>
          <p:cNvSpPr>
            <a:spLocks xmlns:a="http://schemas.openxmlformats.org/drawingml/2006/main" noGrp="1"/>
          </p:cNvSpPr>
          <p:nvPr/>
        </p:nvSpPr>
        <p:spPr>
          <a:xfrm xmlns:a="http://schemas.openxmlformats.org/drawingml/2006/main">
            <a:off x="571500" y="49053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75"/>
                </a:solidFill>
                <a:latin typeface="Calibri"/>
                <a:ea typeface="Calibri"/>
                <a:cs typeface="Calibri"/>
              </a:defRPr>
            </a:pPr>
            <a:r>
              <a:rPr sz="1875" b="0">
                <a:solidFill>
                  <a:srgbClr val="536975"/>
                </a:solidFill>
                <a:latin typeface="Calibri"/>
                <a:ea typeface="Calibri"/>
                <a:cs typeface="Calibri"/>
              </a:rPr>
              <a:t>Reported crash patterns from 2023–2025</a:t>
            </a:r>
          </a:p>
          <a:p xmlns:a="http://schemas.openxmlformats.org/drawingml/2006/main">
            <a:pPr>
              <a:defRPr sz="1875" b="0">
                <a:solidFill>
                  <a:srgbClr val="536975"/>
                </a:solidFill>
                <a:latin typeface="Calibri"/>
                <a:ea typeface="Calibri"/>
                <a:cs typeface="Calibri"/>
              </a:defRPr>
            </a:pPr>
            <a:r>
              <a:rPr sz="1875" b="0">
                <a:solidFill>
                  <a:srgbClr val="536975"/>
                </a:solidFill>
                <a:latin typeface="Calibri"/>
                <a:ea typeface="Calibri"/>
                <a:cs typeface="Calibri"/>
              </a:rPr>
              <a:t>A five-minute decision briefing and live website demonstration</a:t>
            </a:r>
          </a:p>
        </p:txBody>
      </p:sp>
    </p:spTree>
    <p:extLst>
      <p:ext uri="{BB962C8B-B14F-4D97-AF65-F5344CB8AC3E}">
        <p14:creationId xmlns:p14="http://schemas.microsoft.com/office/powerpoint/2010/main" val="2114159204"/>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91CD58-7A60-4359-90F6-12F49AB9A44D}"/>
              </a:ext>
            </a:extLst>
          </p:cNvPr>
          <p:cNvSpPr>
            <a:spLocks xmlns:a="http://schemas.openxmlformats.org/drawingml/2006/main" noGrp="1"/>
          </p:cNvSpPr>
          <p:nvPr/>
        </p:nvSpPr>
        <p:spPr>
          <a:xfrm xmlns:a="http://schemas.openxmlformats.org/drawingml/2006/main">
            <a:off x="571500" y="4286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696 crashes define the study population</a:t>
            </a:r>
          </a:p>
        </p:txBody>
      </p:sp>
      <p:sp>
        <p:nvSpPr>
          <p:cNvPr id="2" name="">
            <a:extLst xmlns:a="http://schemas.openxmlformats.org/drawingml/2006/main">
              <a:ext uri="{FF2B5EF4-FFF2-40B4-BE49-F238E27FC236}">
                <a16:creationId xmlns:a16="http://schemas.microsoft.com/office/drawing/2014/main" id="{7E6E7B48-DAFD-4473-9BD9-81F1B4230C8E}"/>
              </a:ext>
            </a:extLst>
          </p:cNvPr>
          <p:cNvSpPr>
            <a:spLocks xmlns:a="http://schemas.openxmlformats.org/drawingml/2006/main" noGrp="1"/>
          </p:cNvSpPr>
          <p:nvPr/>
        </p:nvSpPr>
        <p:spPr>
          <a:xfrm xmlns:a="http://schemas.openxmlformats.org/drawingml/2006/main">
            <a:off x="571500" y="64103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975"/>
                </a:solidFill>
                <a:latin typeface="Calibri"/>
                <a:ea typeface="Calibri"/>
                <a:cs typeface="Calibri"/>
              </a:defRPr>
            </a:pPr>
            <a:r>
              <a:rPr sz="1125" b="0">
                <a:solidFill>
                  <a:srgbClr val="536975"/>
                </a:solidFill>
                <a:latin typeface="Calibri"/>
                <a:ea typeface="Calibri"/>
                <a:cs typeface="Calibri"/>
              </a:rPr>
              <a:t>CAMBRIDGE ROAD SAFETY  /  PS01  /  2023–2025</a:t>
            </a:r>
          </a:p>
        </p:txBody>
      </p:sp>
      <p:sp>
        <p:nvSpPr>
          <p:cNvPr id="3" name="">
            <a:extLst xmlns:a="http://schemas.openxmlformats.org/drawingml/2006/main">
              <a:ext uri="{FF2B5EF4-FFF2-40B4-BE49-F238E27FC236}">
                <a16:creationId xmlns:a16="http://schemas.microsoft.com/office/drawing/2014/main" id="{CE023FD5-1273-4EDE-ADD7-A5087EDA57DD}"/>
              </a:ext>
            </a:extLst>
          </p:cNvPr>
          <p:cNvSpPr>
            <a:spLocks xmlns:a="http://schemas.openxmlformats.org/drawingml/2006/main" noGrp="1"/>
          </p:cNvSpPr>
          <p:nvPr/>
        </p:nvSpPr>
        <p:spPr>
          <a:xfrm xmlns:a="http://schemas.openxmlformats.org/drawingml/2006/main">
            <a:off x="11144250" y="63722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975"/>
                </a:solidFill>
                <a:latin typeface="Calibri"/>
                <a:ea typeface="Calibri"/>
                <a:cs typeface="Calibri"/>
              </a:defRPr>
            </a:pPr>
            <a:r>
              <a:rPr sz="1425" b="0">
                <a:solidFill>
                  <a:srgbClr val="536975"/>
                </a:solidFill>
                <a:latin typeface="Calibri"/>
                <a:ea typeface="Calibri"/>
                <a:cs typeface="Calibri"/>
              </a:rPr>
              <a:t>02</a:t>
            </a:r>
          </a:p>
        </p:txBody>
      </p:sp>
      <p:sp>
        <p:nvSpPr>
          <p:cNvPr id="4" name="">
            <a:extLst xmlns:a="http://schemas.openxmlformats.org/drawingml/2006/main">
              <a:ext uri="{FF2B5EF4-FFF2-40B4-BE49-F238E27FC236}">
                <a16:creationId xmlns:a16="http://schemas.microsoft.com/office/drawing/2014/main" id="{87B9C079-F5FC-4DAB-8AEE-85D157E32C76}"/>
              </a:ext>
            </a:extLst>
          </p:cNvPr>
          <p:cNvSpPr>
            <a:spLocks xmlns:a="http://schemas.openxmlformats.org/drawingml/2006/main" noGrp="1"/>
          </p:cNvSpPr>
          <p:nvPr/>
        </p:nvSpPr>
        <p:spPr>
          <a:xfrm xmlns:a="http://schemas.openxmlformats.org/drawingml/2006/main">
            <a:off x="571500" y="14763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7F7C"/>
                </a:solidFill>
                <a:latin typeface="Calibri"/>
                <a:ea typeface="Calibri"/>
                <a:cs typeface="Calibri"/>
              </a:defRPr>
            </a:pPr>
            <a:r>
              <a:rPr sz="2250" b="1">
                <a:solidFill>
                  <a:srgbClr val="197F7C"/>
                </a:solidFill>
                <a:latin typeface="Calibri"/>
                <a:ea typeface="Calibri"/>
                <a:cs typeface="Calibri"/>
              </a:rPr>
              <a:t>438 cyclist-involved     260 pedestrian-involved</a:t>
            </a:r>
          </a:p>
        </p:txBody>
      </p:sp>
      <p:sp>
        <p:nvSpPr>
          <p:cNvPr id="5" name="">
            <a:extLst xmlns:a="http://schemas.openxmlformats.org/drawingml/2006/main">
              <a:ext uri="{FF2B5EF4-FFF2-40B4-BE49-F238E27FC236}">
                <a16:creationId xmlns:a16="http://schemas.microsoft.com/office/drawing/2014/main" id="{23558B5C-22B5-436E-B45D-2C9DD76EE073}"/>
              </a:ext>
            </a:extLst>
          </p:cNvPr>
          <p:cNvSpPr>
            <a:spLocks xmlns:a="http://schemas.openxmlformats.org/drawingml/2006/main" noGrp="1"/>
          </p:cNvSpPr>
          <p:nvPr/>
        </p:nvSpPr>
        <p:spPr>
          <a:xfrm xmlns:a="http://schemas.openxmlformats.org/drawingml/2006/main">
            <a:off x="571500" y="2047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975"/>
                </a:solidFill>
                <a:latin typeface="Calibri"/>
                <a:ea typeface="Calibri"/>
                <a:cs typeface="Calibri"/>
              </a:defRPr>
            </a:pPr>
            <a:r>
              <a:rPr sz="1800" b="0">
                <a:solidFill>
                  <a:srgbClr val="536975"/>
                </a:solidFill>
                <a:latin typeface="Calibri"/>
                <a:ea typeface="Calibri"/>
                <a:cs typeface="Calibri"/>
              </a:rPr>
              <a:t>Two crashes involve both groups. Combined totals count each crash once.</a:t>
            </a:r>
          </a:p>
        </p:txBody>
      </p:sp>
      <p:graphicFrame>
        <p:nvGraphicFramePr>
          <p:cNvPr id="15" name="Chart"/>
          <p:cNvGraphicFramePr/>
          <p:nvPr/>
        </p:nvGraphicFramePr>
        <p:xfrm>
          <a:off xmlns:a="http://schemas.openxmlformats.org/drawingml/2006/main" x="619125" y="2762250"/>
          <a:ext xmlns:a="http://schemas.openxmlformats.org/drawingml/2006/main" cx="6762750" cy="3048000"/>
        </p:xfrm>
        <a:graphic xmlns:a="http://schemas.openxmlformats.org/drawingml/2006/main">
          <a:graphicData uri="http://schemas.openxmlformats.org/drawingml/2006/chart">
            <c:chart xmlns:r="http://schemas.openxmlformats.org/officeDocument/2006/relationships" xmlns:c="http://schemas.openxmlformats.org/drawingml/2006/chart" r:id="R5d85334f1c87475e"/>
          </a:graphicData>
        </a:graphic>
      </p:graphicFrame>
      <p:sp>
        <p:nvSpPr>
          <p:cNvPr id="7" name="">
            <a:extLst xmlns:a="http://schemas.openxmlformats.org/drawingml/2006/main">
              <a:ext uri="{FF2B5EF4-FFF2-40B4-BE49-F238E27FC236}">
                <a16:creationId xmlns:a16="http://schemas.microsoft.com/office/drawing/2014/main" id="{5AAE8291-4674-4D31-BC88-BF0BC5DAE9CE}"/>
              </a:ext>
            </a:extLst>
          </p:cNvPr>
          <p:cNvSpPr>
            <a:spLocks xmlns:a="http://schemas.openxmlformats.org/drawingml/2006/main" noGrp="1"/>
          </p:cNvSpPr>
          <p:nvPr/>
        </p:nvSpPr>
        <p:spPr>
          <a:xfrm xmlns:a="http://schemas.openxmlformats.org/drawingml/2006/main">
            <a:off x="8048625" y="2952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447"/>
                </a:solidFill>
                <a:latin typeface="Calibri"/>
                <a:ea typeface="Calibri"/>
                <a:cs typeface="Calibri"/>
              </a:defRPr>
            </a:pPr>
            <a:r>
              <a:rPr sz="2775" b="1">
                <a:solidFill>
                  <a:srgbClr val="173447"/>
                </a:solidFill>
                <a:latin typeface="Calibri"/>
                <a:ea typeface="Calibri"/>
                <a:cs typeface="Calibri"/>
              </a:rPr>
              <a:t>2023–2025</a:t>
            </a:r>
          </a:p>
        </p:txBody>
      </p:sp>
      <p:sp>
        <p:nvSpPr>
          <p:cNvPr id="8" name="">
            <a:extLst xmlns:a="http://schemas.openxmlformats.org/drawingml/2006/main">
              <a:ext uri="{FF2B5EF4-FFF2-40B4-BE49-F238E27FC236}">
                <a16:creationId xmlns:a16="http://schemas.microsoft.com/office/drawing/2014/main" id="{A12FFEAF-5F2A-40E5-88D1-1B0E65D95310}"/>
              </a:ext>
            </a:extLst>
          </p:cNvPr>
          <p:cNvSpPr>
            <a:spLocks xmlns:a="http://schemas.openxmlformats.org/drawingml/2006/main" noGrp="1"/>
          </p:cNvSpPr>
          <p:nvPr/>
        </p:nvSpPr>
        <p:spPr>
          <a:xfrm xmlns:a="http://schemas.openxmlformats.org/drawingml/2006/main">
            <a:off x="8048625" y="3714750"/>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7"/>
                </a:solidFill>
                <a:latin typeface="Calibri"/>
                <a:ea typeface="Calibri"/>
                <a:cs typeface="Calibri"/>
              </a:defRPr>
            </a:pPr>
            <a:r>
              <a:rPr sz="2025" b="0">
                <a:solidFill>
                  <a:srgbClr val="173447"/>
                </a:solidFill>
                <a:latin typeface="Calibri"/>
                <a:ea typeface="Calibri"/>
                <a:cs typeface="Calibri"/>
              </a:rPr>
              <a:t>All 36 months represented</a:t>
            </a:r>
          </a:p>
          <a:p xmlns:a="http://schemas.openxmlformats.org/drawingml/2006/main">
            <a:r>
              <a:t/>
            </a:r>
          </a:p>
          <a:p xmlns:a="http://schemas.openxmlformats.org/drawingml/2006/main">
            <a:pPr>
              <a:defRPr sz="2025" b="0">
                <a:solidFill>
                  <a:srgbClr val="173447"/>
                </a:solidFill>
                <a:latin typeface="Calibri"/>
                <a:ea typeface="Calibri"/>
                <a:cs typeface="Calibri"/>
              </a:defRPr>
            </a:pPr>
            <a:r>
              <a:rPr sz="2025" b="0">
                <a:solidFill>
                  <a:srgbClr val="173447"/>
                </a:solidFill>
                <a:latin typeface="Calibri"/>
                <a:ea typeface="Calibri"/>
                <a:cs typeface="Calibri"/>
              </a:rPr>
              <a:t>CPD is the counting source.</a:t>
            </a:r>
          </a:p>
          <a:p xmlns:a="http://schemas.openxmlformats.org/drawingml/2006/main">
            <a:pPr>
              <a:defRPr sz="2025" b="0">
                <a:solidFill>
                  <a:srgbClr val="173447"/>
                </a:solidFill>
                <a:latin typeface="Calibri"/>
                <a:ea typeface="Calibri"/>
                <a:cs typeface="Calibri"/>
              </a:defRPr>
            </a:pPr>
            <a:r>
              <a:rPr sz="2025" b="0">
                <a:solidFill>
                  <a:srgbClr val="173447"/>
                </a:solidFill>
                <a:latin typeface="Calibri"/>
                <a:ea typeface="Calibri"/>
                <a:cs typeface="Calibri"/>
              </a:rPr>
              <a:t>Overlapping files stay separate.</a:t>
            </a:r>
          </a:p>
        </p:txBody>
      </p:sp>
      <p:sp>
        <p:nvSpPr>
          <p:cNvPr id="9" name="">
            <a:extLst xmlns:a="http://schemas.openxmlformats.org/drawingml/2006/main">
              <a:ext uri="{FF2B5EF4-FFF2-40B4-BE49-F238E27FC236}">
                <a16:creationId xmlns:a16="http://schemas.microsoft.com/office/drawing/2014/main" id="{2C49E6B7-99E1-4F99-90FA-47CE65148E19}"/>
              </a:ext>
            </a:extLst>
          </p:cNvPr>
          <p:cNvSpPr>
            <a:spLocks xmlns:a="http://schemas.openxmlformats.org/drawingml/2006/main" noGrp="1"/>
          </p:cNvSpPr>
          <p:nvPr/>
        </p:nvSpPr>
        <p:spPr>
          <a:xfrm xmlns:a="http://schemas.openxmlformats.org/drawingml/2006/main">
            <a:off x="619125"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975"/>
                </a:solidFill>
                <a:latin typeface="Calibri"/>
                <a:ea typeface="Calibri"/>
                <a:cs typeface="Calibri"/>
              </a:defRPr>
            </a:pPr>
            <a:r>
              <a:rPr sz="1575" b="0">
                <a:solidFill>
                  <a:srgbClr val="536975"/>
                </a:solidFill>
                <a:latin typeface="Calibri"/>
                <a:ea typeface="Calibri"/>
                <a:cs typeface="Calibri"/>
              </a:rPr>
              <a:t>Units: reported crashes. Calendar coverage does not prove complete reporting.</a:t>
            </a:r>
          </a:p>
        </p:txBody>
      </p:sp>
    </p:spTree>
    <p:extLst>
      <p:ext uri="{BB962C8B-B14F-4D97-AF65-F5344CB8AC3E}">
        <p14:creationId xmlns:p14="http://schemas.microsoft.com/office/powerpoint/2010/main" val="188831065"/>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4D6A3B-9E1E-48C8-8DF8-12DB99743A99}"/>
              </a:ext>
            </a:extLst>
          </p:cNvPr>
          <p:cNvSpPr>
            <a:spLocks xmlns:a="http://schemas.openxmlformats.org/drawingml/2006/main" noGrp="1"/>
          </p:cNvSpPr>
          <p:nvPr/>
        </p:nvSpPr>
        <p:spPr>
          <a:xfrm xmlns:a="http://schemas.openxmlformats.org/drawingml/2006/main">
            <a:off x="571500" y="4286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Six intersection labels account for 42 crashes</a:t>
            </a:r>
          </a:p>
        </p:txBody>
      </p:sp>
      <p:sp>
        <p:nvSpPr>
          <p:cNvPr id="2" name="">
            <a:extLst xmlns:a="http://schemas.openxmlformats.org/drawingml/2006/main">
              <a:ext uri="{FF2B5EF4-FFF2-40B4-BE49-F238E27FC236}">
                <a16:creationId xmlns:a16="http://schemas.microsoft.com/office/drawing/2014/main" id="{D6A21BEF-8EA3-4BFF-A4D4-7361E465BF0E}"/>
              </a:ext>
            </a:extLst>
          </p:cNvPr>
          <p:cNvSpPr>
            <a:spLocks xmlns:a="http://schemas.openxmlformats.org/drawingml/2006/main" noGrp="1"/>
          </p:cNvSpPr>
          <p:nvPr/>
        </p:nvSpPr>
        <p:spPr>
          <a:xfrm xmlns:a="http://schemas.openxmlformats.org/drawingml/2006/main">
            <a:off x="571500" y="64103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975"/>
                </a:solidFill>
                <a:latin typeface="Calibri"/>
                <a:ea typeface="Calibri"/>
                <a:cs typeface="Calibri"/>
              </a:defRPr>
            </a:pPr>
            <a:r>
              <a:rPr sz="1125" b="0">
                <a:solidFill>
                  <a:srgbClr val="536975"/>
                </a:solidFill>
                <a:latin typeface="Calibri"/>
                <a:ea typeface="Calibri"/>
                <a:cs typeface="Calibri"/>
              </a:rPr>
              <a:t>CAMBRIDGE ROAD SAFETY  /  PS01  /  2023–2025</a:t>
            </a:r>
          </a:p>
        </p:txBody>
      </p:sp>
      <p:sp>
        <p:nvSpPr>
          <p:cNvPr id="3" name="">
            <a:extLst xmlns:a="http://schemas.openxmlformats.org/drawingml/2006/main">
              <a:ext uri="{FF2B5EF4-FFF2-40B4-BE49-F238E27FC236}">
                <a16:creationId xmlns:a16="http://schemas.microsoft.com/office/drawing/2014/main" id="{F9E0C2EE-5338-47EC-B805-1779898704BA}"/>
              </a:ext>
            </a:extLst>
          </p:cNvPr>
          <p:cNvSpPr>
            <a:spLocks xmlns:a="http://schemas.openxmlformats.org/drawingml/2006/main" noGrp="1"/>
          </p:cNvSpPr>
          <p:nvPr/>
        </p:nvSpPr>
        <p:spPr>
          <a:xfrm xmlns:a="http://schemas.openxmlformats.org/drawingml/2006/main">
            <a:off x="11144250" y="63722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975"/>
                </a:solidFill>
                <a:latin typeface="Calibri"/>
                <a:ea typeface="Calibri"/>
                <a:cs typeface="Calibri"/>
              </a:defRPr>
            </a:pPr>
            <a:r>
              <a:rPr sz="1425" b="0">
                <a:solidFill>
                  <a:srgbClr val="536975"/>
                </a:solidFill>
                <a:latin typeface="Calibri"/>
                <a:ea typeface="Calibri"/>
                <a:cs typeface="Calibri"/>
              </a:rPr>
              <a:t>03</a:t>
            </a:r>
          </a:p>
        </p:txBody>
      </p:sp>
      <p:graphicFrame>
        <p:nvGraphicFramePr>
          <p:cNvPr id="12" name="Chart"/>
          <p:cNvGraphicFramePr/>
          <p:nvPr/>
        </p:nvGraphicFramePr>
        <p:xfrm>
          <a:off xmlns:a="http://schemas.openxmlformats.org/drawingml/2006/main" x="571500" y="1476375"/>
          <a:ext xmlns:a="http://schemas.openxmlformats.org/drawingml/2006/main" cx="8572500" cy="4143375"/>
        </p:xfrm>
        <a:graphic xmlns:a="http://schemas.openxmlformats.org/drawingml/2006/main">
          <a:graphicData uri="http://schemas.openxmlformats.org/drawingml/2006/chart">
            <c:chart xmlns:r="http://schemas.openxmlformats.org/officeDocument/2006/relationships" xmlns:c="http://schemas.openxmlformats.org/drawingml/2006/chart" r:id="Rd0aed36b6c0542be"/>
          </a:graphicData>
        </a:graphic>
      </p:graphicFrame>
      <p:sp>
        <p:nvSpPr>
          <p:cNvPr id="5" name="">
            <a:extLst xmlns:a="http://schemas.openxmlformats.org/drawingml/2006/main">
              <a:ext uri="{FF2B5EF4-FFF2-40B4-BE49-F238E27FC236}">
                <a16:creationId xmlns:a16="http://schemas.microsoft.com/office/drawing/2014/main" id="{42AB6BE8-CA40-4F39-AF7C-3B78EC6AAE6D}"/>
              </a:ext>
            </a:extLst>
          </p:cNvPr>
          <p:cNvSpPr>
            <a:spLocks xmlns:a="http://schemas.openxmlformats.org/drawingml/2006/main" noGrp="1"/>
          </p:cNvSpPr>
          <p:nvPr/>
        </p:nvSpPr>
        <p:spPr>
          <a:xfrm xmlns:a="http://schemas.openxmlformats.org/drawingml/2006/main">
            <a:off x="9477375" y="18573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7F7C"/>
                </a:solidFill>
                <a:latin typeface="Calibri"/>
                <a:ea typeface="Calibri"/>
                <a:cs typeface="Calibri"/>
              </a:defRPr>
            </a:pPr>
            <a:r>
              <a:rPr sz="3600" b="1">
                <a:solidFill>
                  <a:srgbClr val="197F7C"/>
                </a:solidFill>
                <a:latin typeface="Calibri"/>
                <a:ea typeface="Calibri"/>
                <a:cs typeface="Calibri"/>
              </a:rPr>
              <a:t>9.8%</a:t>
            </a:r>
          </a:p>
        </p:txBody>
      </p:sp>
      <p:sp>
        <p:nvSpPr>
          <p:cNvPr id="6" name="">
            <a:extLst xmlns:a="http://schemas.openxmlformats.org/drawingml/2006/main">
              <a:ext uri="{FF2B5EF4-FFF2-40B4-BE49-F238E27FC236}">
                <a16:creationId xmlns:a16="http://schemas.microsoft.com/office/drawing/2014/main" id="{74EBDCCF-A190-4C4E-9C2A-0D018060C2BD}"/>
              </a:ext>
            </a:extLst>
          </p:cNvPr>
          <p:cNvSpPr>
            <a:spLocks xmlns:a="http://schemas.openxmlformats.org/drawingml/2006/main" noGrp="1"/>
          </p:cNvSpPr>
          <p:nvPr/>
        </p:nvSpPr>
        <p:spPr>
          <a:xfrm xmlns:a="http://schemas.openxmlformats.org/drawingml/2006/main">
            <a:off x="9477375" y="257175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47"/>
                </a:solidFill>
                <a:latin typeface="Calibri"/>
                <a:ea typeface="Calibri"/>
                <a:cs typeface="Calibri"/>
              </a:defRPr>
            </a:pPr>
            <a:r>
              <a:rPr sz="1800" b="0">
                <a:solidFill>
                  <a:srgbClr val="173447"/>
                </a:solidFill>
                <a:latin typeface="Calibri"/>
                <a:ea typeface="Calibri"/>
                <a:cs typeface="Calibri"/>
              </a:rPr>
              <a:t>of the 430 crashes</a:t>
            </a:r>
          </a:p>
          <a:p xmlns:a="http://schemas.openxmlformats.org/drawingml/2006/main">
            <a:pPr>
              <a:defRPr sz="1800" b="0">
                <a:solidFill>
                  <a:srgbClr val="173447"/>
                </a:solidFill>
                <a:latin typeface="Calibri"/>
                <a:ea typeface="Calibri"/>
                <a:cs typeface="Calibri"/>
              </a:defRPr>
            </a:pPr>
            <a:r>
              <a:rPr sz="1800" b="0">
                <a:solidFill>
                  <a:srgbClr val="173447"/>
                </a:solidFill>
                <a:latin typeface="Calibri"/>
                <a:ea typeface="Calibri"/>
                <a:cs typeface="Calibri"/>
              </a:rPr>
              <a:t>with explicit pairs</a:t>
            </a:r>
          </a:p>
        </p:txBody>
      </p:sp>
      <p:sp>
        <p:nvSpPr>
          <p:cNvPr id="7" name="">
            <a:extLst xmlns:a="http://schemas.openxmlformats.org/drawingml/2006/main">
              <a:ext uri="{FF2B5EF4-FFF2-40B4-BE49-F238E27FC236}">
                <a16:creationId xmlns:a16="http://schemas.microsoft.com/office/drawing/2014/main" id="{8C22DD0F-207E-4DF0-8CA5-8ED9793A1DBD}"/>
              </a:ext>
            </a:extLst>
          </p:cNvPr>
          <p:cNvSpPr>
            <a:spLocks xmlns:a="http://schemas.openxmlformats.org/drawingml/2006/main" noGrp="1"/>
          </p:cNvSpPr>
          <p:nvPr/>
        </p:nvSpPr>
        <p:spPr>
          <a:xfrm xmlns:a="http://schemas.openxmlformats.org/drawingml/2006/main">
            <a:off x="9477375" y="3857625"/>
            <a:ext cx="2190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Three locations tie</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at six crashes.</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All remain on</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the shortlist.</a:t>
            </a:r>
          </a:p>
        </p:txBody>
      </p:sp>
      <p:sp>
        <p:nvSpPr>
          <p:cNvPr id="8" name="">
            <a:extLst xmlns:a="http://schemas.openxmlformats.org/drawingml/2006/main">
              <a:ext uri="{FF2B5EF4-FFF2-40B4-BE49-F238E27FC236}">
                <a16:creationId xmlns:a16="http://schemas.microsoft.com/office/drawing/2014/main" id="{E6200E0D-2D8F-432A-807A-F506568295CA}"/>
              </a:ext>
            </a:extLst>
          </p:cNvPr>
          <p:cNvSpPr>
            <a:spLocks xmlns:a="http://schemas.openxmlformats.org/drawingml/2006/main" noGrp="1"/>
          </p:cNvSpPr>
          <p:nvPr/>
        </p:nvSpPr>
        <p:spPr>
          <a:xfrm xmlns:a="http://schemas.openxmlformats.org/drawingml/2006/main">
            <a:off x="571500" y="59245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975"/>
                </a:solidFill>
                <a:latin typeface="Calibri"/>
                <a:ea typeface="Calibri"/>
                <a:cs typeface="Calibri"/>
              </a:defRPr>
            </a:pPr>
            <a:r>
              <a:rPr sz="1650" b="0">
                <a:solidFill>
                  <a:srgbClr val="536975"/>
                </a:solidFill>
                <a:latin typeface="Calibri"/>
                <a:ea typeface="Calibri"/>
                <a:cs typeface="Calibri"/>
              </a:rPr>
              <a:t>Provisional counts by recorded street pair. Unresolved aliases can split one physical location.</a:t>
            </a:r>
          </a:p>
        </p:txBody>
      </p:sp>
    </p:spTree>
    <p:extLst>
      <p:ext uri="{BB962C8B-B14F-4D97-AF65-F5344CB8AC3E}">
        <p14:creationId xmlns:p14="http://schemas.microsoft.com/office/powerpoint/2010/main" val="46354414"/>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8BE5CF-64EA-47FF-8648-9330BE27A961}"/>
              </a:ext>
            </a:extLst>
          </p:cNvPr>
          <p:cNvSpPr>
            <a:spLocks xmlns:a="http://schemas.openxmlformats.org/drawingml/2006/main" noGrp="1"/>
          </p:cNvSpPr>
          <p:nvPr/>
        </p:nvSpPr>
        <p:spPr>
          <a:xfrm xmlns:a="http://schemas.openxmlformats.org/drawingml/2006/main">
            <a:off x="571500" y="4286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Live website demonstration</a:t>
            </a:r>
          </a:p>
        </p:txBody>
      </p:sp>
      <p:sp>
        <p:nvSpPr>
          <p:cNvPr id="2" name="">
            <a:extLst xmlns:a="http://schemas.openxmlformats.org/drawingml/2006/main">
              <a:ext uri="{FF2B5EF4-FFF2-40B4-BE49-F238E27FC236}">
                <a16:creationId xmlns:a16="http://schemas.microsoft.com/office/drawing/2014/main" id="{F12807CA-B2BE-4390-8016-9135C77FC8D6}"/>
              </a:ext>
            </a:extLst>
          </p:cNvPr>
          <p:cNvSpPr>
            <a:spLocks xmlns:a="http://schemas.openxmlformats.org/drawingml/2006/main" noGrp="1"/>
          </p:cNvSpPr>
          <p:nvPr/>
        </p:nvSpPr>
        <p:spPr>
          <a:xfrm xmlns:a="http://schemas.openxmlformats.org/drawingml/2006/main">
            <a:off x="571500" y="64103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975"/>
                </a:solidFill>
                <a:latin typeface="Calibri"/>
                <a:ea typeface="Calibri"/>
                <a:cs typeface="Calibri"/>
              </a:defRPr>
            </a:pPr>
            <a:r>
              <a:rPr sz="1125" b="0">
                <a:solidFill>
                  <a:srgbClr val="536975"/>
                </a:solidFill>
                <a:latin typeface="Calibri"/>
                <a:ea typeface="Calibri"/>
                <a:cs typeface="Calibri"/>
              </a:rPr>
              <a:t>CAMBRIDGE ROAD SAFETY  /  PS01  /  2023–2025</a:t>
            </a:r>
          </a:p>
        </p:txBody>
      </p:sp>
      <p:sp>
        <p:nvSpPr>
          <p:cNvPr id="3" name="">
            <a:extLst xmlns:a="http://schemas.openxmlformats.org/drawingml/2006/main">
              <a:ext uri="{FF2B5EF4-FFF2-40B4-BE49-F238E27FC236}">
                <a16:creationId xmlns:a16="http://schemas.microsoft.com/office/drawing/2014/main" id="{BEF63803-CB2F-4E2A-B3DD-8B9C82A960D4}"/>
              </a:ext>
            </a:extLst>
          </p:cNvPr>
          <p:cNvSpPr>
            <a:spLocks xmlns:a="http://schemas.openxmlformats.org/drawingml/2006/main" noGrp="1"/>
          </p:cNvSpPr>
          <p:nvPr/>
        </p:nvSpPr>
        <p:spPr>
          <a:xfrm xmlns:a="http://schemas.openxmlformats.org/drawingml/2006/main">
            <a:off x="11144250" y="63722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975"/>
                </a:solidFill>
                <a:latin typeface="Calibri"/>
                <a:ea typeface="Calibri"/>
                <a:cs typeface="Calibri"/>
              </a:defRPr>
            </a:pPr>
            <a:r>
              <a:rPr sz="1425" b="0">
                <a:solidFill>
                  <a:srgbClr val="536975"/>
                </a:solidFill>
                <a:latin typeface="Calibri"/>
                <a:ea typeface="Calibri"/>
                <a:cs typeface="Calibri"/>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95fbea2498e4e0c"/>
          <a:stretch xmlns:a="http://schemas.openxmlformats.org/drawingml/2006/main"/>
        </p:blipFill>
        <p:spPr>
          <a:xfrm xmlns:a="http://schemas.openxmlformats.org/drawingml/2006/main">
            <a:off x="526216" y="1666875"/>
            <a:ext cx="7615318" cy="4286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423AE39-78D1-437F-BA09-623CFCB09F0F}"/>
              </a:ext>
            </a:extLst>
          </p:cNvPr>
          <p:cNvSpPr>
            <a:spLocks xmlns:a="http://schemas.openxmlformats.org/drawingml/2006/main" noGrp="1"/>
          </p:cNvSpPr>
          <p:nvPr/>
        </p:nvSpPr>
        <p:spPr>
          <a:xfrm xmlns:a="http://schemas.openxmlformats.org/drawingml/2006/main">
            <a:off x="8429625" y="16192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7F7C"/>
                </a:solidFill>
                <a:latin typeface="Calibri"/>
                <a:ea typeface="Calibri"/>
                <a:cs typeface="Calibri"/>
              </a:defRPr>
            </a:pPr>
            <a:r>
              <a:rPr sz="2250" b="1">
                <a:solidFill>
                  <a:srgbClr val="197F7C"/>
                </a:solidFill>
                <a:latin typeface="Calibri"/>
                <a:ea typeface="Calibri"/>
                <a:cs typeface="Calibri"/>
              </a:rPr>
              <a:t>100 seconds in the browser</a:t>
            </a:r>
          </a:p>
        </p:txBody>
      </p:sp>
      <p:sp>
        <p:nvSpPr>
          <p:cNvPr id="6" name="">
            <a:extLst xmlns:a="http://schemas.openxmlformats.org/drawingml/2006/main">
              <a:ext uri="{FF2B5EF4-FFF2-40B4-BE49-F238E27FC236}">
                <a16:creationId xmlns:a16="http://schemas.microsoft.com/office/drawing/2014/main" id="{511BBCD5-5573-4B09-B6AD-EB33155D0637}"/>
              </a:ext>
            </a:extLst>
          </p:cNvPr>
          <p:cNvSpPr>
            <a:spLocks xmlns:a="http://schemas.openxmlformats.org/drawingml/2006/main" noGrp="1"/>
          </p:cNvSpPr>
          <p:nvPr/>
        </p:nvSpPr>
        <p:spPr>
          <a:xfrm xmlns:a="http://schemas.openxmlformats.org/drawingml/2006/main">
            <a:off x="8429625" y="2619375"/>
            <a:ext cx="3143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447"/>
                </a:solidFill>
                <a:latin typeface="Calibri"/>
                <a:ea typeface="Calibri"/>
                <a:cs typeface="Calibri"/>
              </a:defRPr>
            </a:pPr>
            <a:r>
              <a:rPr sz="1875" b="0">
                <a:solidFill>
                  <a:srgbClr val="173447"/>
                </a:solidFill>
                <a:latin typeface="Calibri"/>
                <a:ea typeface="Calibri"/>
                <a:cs typeface="Calibri"/>
              </a:rPr>
              <a:t>1  Change year and road user</a:t>
            </a:r>
          </a:p>
          <a:p xmlns:a="http://schemas.openxmlformats.org/drawingml/2006/main">
            <a:r>
              <a:t/>
            </a:r>
          </a:p>
          <a:p xmlns:a="http://schemas.openxmlformats.org/drawingml/2006/main">
            <a:pPr>
              <a:defRPr sz="1875" b="0">
                <a:solidFill>
                  <a:srgbClr val="173447"/>
                </a:solidFill>
                <a:latin typeface="Calibri"/>
                <a:ea typeface="Calibri"/>
                <a:cs typeface="Calibri"/>
              </a:defRPr>
            </a:pPr>
            <a:r>
              <a:rPr sz="1875" b="0">
                <a:solidFill>
                  <a:srgbClr val="173447"/>
                </a:solidFill>
                <a:latin typeface="Calibri"/>
                <a:ea typeface="Calibri"/>
                <a:cs typeface="Calibri"/>
              </a:rPr>
              <a:t>2  Compare map and ranking</a:t>
            </a:r>
          </a:p>
          <a:p xmlns:a="http://schemas.openxmlformats.org/drawingml/2006/main">
            <a:r>
              <a:t/>
            </a:r>
          </a:p>
          <a:p xmlns:a="http://schemas.openxmlformats.org/drawingml/2006/main">
            <a:pPr>
              <a:defRPr sz="1875" b="0">
                <a:solidFill>
                  <a:srgbClr val="173447"/>
                </a:solidFill>
                <a:latin typeface="Calibri"/>
                <a:ea typeface="Calibri"/>
                <a:cs typeface="Calibri"/>
              </a:defRPr>
            </a:pPr>
            <a:r>
              <a:rPr sz="1875" b="0">
                <a:solidFill>
                  <a:srgbClr val="173447"/>
                </a:solidFill>
                <a:latin typeface="Calibri"/>
                <a:ea typeface="Calibri"/>
                <a:cs typeface="Calibri"/>
              </a:rPr>
              <a:t>3  Select Windsor and inspect time patterns</a:t>
            </a:r>
          </a:p>
          <a:p xmlns:a="http://schemas.openxmlformats.org/drawingml/2006/main">
            <a:r>
              <a:t/>
            </a:r>
          </a:p>
          <a:p xmlns:a="http://schemas.openxmlformats.org/drawingml/2006/main">
            <a:pPr>
              <a:defRPr sz="1875" b="0">
                <a:solidFill>
                  <a:srgbClr val="173447"/>
                </a:solidFill>
                <a:latin typeface="Calibri"/>
                <a:ea typeface="Calibri"/>
                <a:cs typeface="Calibri"/>
              </a:defRPr>
            </a:pPr>
            <a:r>
              <a:rPr sz="1875" b="0">
                <a:solidFill>
                  <a:srgbClr val="173447"/>
                </a:solidFill>
                <a:latin typeface="Calibri"/>
                <a:ea typeface="Calibri"/>
                <a:cs typeface="Calibri"/>
              </a:rPr>
              <a:t>4  Reset and show sources</a:t>
            </a:r>
          </a:p>
        </p:txBody>
      </p:sp>
      <p:sp>
        <p:nvSpPr>
          <p:cNvPr id="7" name="">
            <a:extLst xmlns:a="http://schemas.openxmlformats.org/drawingml/2006/main">
              <a:ext uri="{FF2B5EF4-FFF2-40B4-BE49-F238E27FC236}">
                <a16:creationId xmlns:a16="http://schemas.microsoft.com/office/drawing/2014/main" id="{6567FB8F-4C19-4016-873C-86073BD6900B}"/>
              </a:ext>
            </a:extLst>
          </p:cNvPr>
          <p:cNvSpPr>
            <a:spLocks xmlns:a="http://schemas.openxmlformats.org/drawingml/2006/main" noGrp="1"/>
          </p:cNvSpPr>
          <p:nvPr/>
        </p:nvSpPr>
        <p:spPr>
          <a:xfrm xmlns:a="http://schemas.openxmlformats.org/drawingml/2006/main">
            <a:off x="571500" y="60007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975"/>
                </a:solidFill>
                <a:latin typeface="Calibri"/>
                <a:ea typeface="Calibri"/>
                <a:cs typeface="Calibri"/>
              </a:defRPr>
            </a:pPr>
            <a:r>
              <a:rPr sz="1500" b="0">
                <a:solidFill>
                  <a:srgbClr val="536975"/>
                </a:solidFill>
                <a:latin typeface="Calibri"/>
                <a:ea typeface="Calibri"/>
                <a:cs typeface="Calibri"/>
              </a:rPr>
              <a:t>Local preview: http://127.0.0.1:8765/  •  Publication pending</a:t>
            </a:r>
          </a:p>
        </p:txBody>
      </p:sp>
    </p:spTree>
    <p:extLst>
      <p:ext uri="{BB962C8B-B14F-4D97-AF65-F5344CB8AC3E}">
        <p14:creationId xmlns:p14="http://schemas.microsoft.com/office/powerpoint/2010/main" val="156566529"/>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64255C-43D9-4159-849A-EA0538A0F76F}"/>
              </a:ext>
            </a:extLst>
          </p:cNvPr>
          <p:cNvSpPr>
            <a:spLocks xmlns:a="http://schemas.openxmlformats.org/drawingml/2006/main" noGrp="1"/>
          </p:cNvSpPr>
          <p:nvPr/>
        </p:nvSpPr>
        <p:spPr>
          <a:xfrm xmlns:a="http://schemas.openxmlformats.org/drawingml/2006/main">
            <a:off x="571500" y="4286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Annual counts fluctuate within a narrow range</a:t>
            </a:r>
          </a:p>
        </p:txBody>
      </p:sp>
      <p:sp>
        <p:nvSpPr>
          <p:cNvPr id="2" name="">
            <a:extLst xmlns:a="http://schemas.openxmlformats.org/drawingml/2006/main">
              <a:ext uri="{FF2B5EF4-FFF2-40B4-BE49-F238E27FC236}">
                <a16:creationId xmlns:a16="http://schemas.microsoft.com/office/drawing/2014/main" id="{EA2ED12B-30F0-4309-A97C-B1441A91E8BD}"/>
              </a:ext>
            </a:extLst>
          </p:cNvPr>
          <p:cNvSpPr>
            <a:spLocks xmlns:a="http://schemas.openxmlformats.org/drawingml/2006/main" noGrp="1"/>
          </p:cNvSpPr>
          <p:nvPr/>
        </p:nvSpPr>
        <p:spPr>
          <a:xfrm xmlns:a="http://schemas.openxmlformats.org/drawingml/2006/main">
            <a:off x="571500" y="64103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975"/>
                </a:solidFill>
                <a:latin typeface="Calibri"/>
                <a:ea typeface="Calibri"/>
                <a:cs typeface="Calibri"/>
              </a:defRPr>
            </a:pPr>
            <a:r>
              <a:rPr sz="1125" b="0">
                <a:solidFill>
                  <a:srgbClr val="536975"/>
                </a:solidFill>
                <a:latin typeface="Calibri"/>
                <a:ea typeface="Calibri"/>
                <a:cs typeface="Calibri"/>
              </a:rPr>
              <a:t>CAMBRIDGE ROAD SAFETY  /  PS01  /  2023–2025</a:t>
            </a:r>
          </a:p>
        </p:txBody>
      </p:sp>
      <p:sp>
        <p:nvSpPr>
          <p:cNvPr id="3" name="">
            <a:extLst xmlns:a="http://schemas.openxmlformats.org/drawingml/2006/main">
              <a:ext uri="{FF2B5EF4-FFF2-40B4-BE49-F238E27FC236}">
                <a16:creationId xmlns:a16="http://schemas.microsoft.com/office/drawing/2014/main" id="{423E6AC3-9FB4-4CAC-954F-8FA551D59223}"/>
              </a:ext>
            </a:extLst>
          </p:cNvPr>
          <p:cNvSpPr>
            <a:spLocks xmlns:a="http://schemas.openxmlformats.org/drawingml/2006/main" noGrp="1"/>
          </p:cNvSpPr>
          <p:nvPr/>
        </p:nvSpPr>
        <p:spPr>
          <a:xfrm xmlns:a="http://schemas.openxmlformats.org/drawingml/2006/main">
            <a:off x="11144250" y="63722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975"/>
                </a:solidFill>
                <a:latin typeface="Calibri"/>
                <a:ea typeface="Calibri"/>
                <a:cs typeface="Calibri"/>
              </a:defRPr>
            </a:pPr>
            <a:r>
              <a:rPr sz="1425" b="0">
                <a:solidFill>
                  <a:srgbClr val="536975"/>
                </a:solidFill>
                <a:latin typeface="Calibri"/>
                <a:ea typeface="Calibri"/>
                <a:cs typeface="Calibri"/>
              </a:rPr>
              <a:t>05</a:t>
            </a:r>
          </a:p>
        </p:txBody>
      </p:sp>
      <p:graphicFrame>
        <p:nvGraphicFramePr>
          <p:cNvPr id="11" name="Chart"/>
          <p:cNvGraphicFramePr/>
          <p:nvPr/>
        </p:nvGraphicFramePr>
        <p:xfrm>
          <a:off xmlns:a="http://schemas.openxmlformats.org/drawingml/2006/main" x="619125" y="1666875"/>
          <a:ext xmlns:a="http://schemas.openxmlformats.org/drawingml/2006/main" cx="6858000" cy="3857625"/>
        </p:xfrm>
        <a:graphic xmlns:a="http://schemas.openxmlformats.org/drawingml/2006/main">
          <a:graphicData uri="http://schemas.openxmlformats.org/drawingml/2006/chart">
            <c:chart xmlns:r="http://schemas.openxmlformats.org/officeDocument/2006/relationships" xmlns:c="http://schemas.openxmlformats.org/drawingml/2006/chart" r:id="Rd61f82fa471f4c26"/>
          </a:graphicData>
        </a:graphic>
      </p:graphicFrame>
      <p:sp>
        <p:nvSpPr>
          <p:cNvPr id="5" name="">
            <a:extLst xmlns:a="http://schemas.openxmlformats.org/drawingml/2006/main">
              <a:ext uri="{FF2B5EF4-FFF2-40B4-BE49-F238E27FC236}">
                <a16:creationId xmlns:a16="http://schemas.microsoft.com/office/drawing/2014/main" id="{0C2FFA86-846C-431B-BC26-C22E580C91C7}"/>
              </a:ext>
            </a:extLst>
          </p:cNvPr>
          <p:cNvSpPr>
            <a:spLocks xmlns:a="http://schemas.openxmlformats.org/drawingml/2006/main" noGrp="1"/>
          </p:cNvSpPr>
          <p:nvPr/>
        </p:nvSpPr>
        <p:spPr>
          <a:xfrm xmlns:a="http://schemas.openxmlformats.org/drawingml/2006/main">
            <a:off x="7953375" y="1762125"/>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F7C"/>
                </a:solidFill>
                <a:latin typeface="Calibri"/>
                <a:ea typeface="Calibri"/>
                <a:cs typeface="Calibri"/>
              </a:defRPr>
            </a:pPr>
            <a:r>
              <a:rPr sz="2550" b="1">
                <a:solidFill>
                  <a:srgbClr val="197F7C"/>
                </a:solidFill>
                <a:latin typeface="Calibri"/>
                <a:ea typeface="Calibri"/>
                <a:cs typeface="Calibri"/>
              </a:rPr>
              <a:t>Counts cannot establish</a:t>
            </a:r>
          </a:p>
          <a:p xmlns:a="http://schemas.openxmlformats.org/drawingml/2006/main">
            <a:pPr>
              <a:defRPr sz="2550" b="1">
                <a:solidFill>
                  <a:srgbClr val="197F7C"/>
                </a:solidFill>
                <a:latin typeface="Calibri"/>
                <a:ea typeface="Calibri"/>
                <a:cs typeface="Calibri"/>
              </a:defRPr>
            </a:pPr>
            <a:r>
              <a:rPr sz="2550" b="1">
                <a:solidFill>
                  <a:srgbClr val="197F7C"/>
                </a:solidFill>
                <a:latin typeface="Calibri"/>
                <a:ea typeface="Calibri"/>
                <a:cs typeface="Calibri"/>
              </a:rPr>
              <a:t>risk per traveler</a:t>
            </a:r>
          </a:p>
        </p:txBody>
      </p:sp>
      <p:sp>
        <p:nvSpPr>
          <p:cNvPr id="6" name="">
            <a:extLst xmlns:a="http://schemas.openxmlformats.org/drawingml/2006/main">
              <a:ext uri="{FF2B5EF4-FFF2-40B4-BE49-F238E27FC236}">
                <a16:creationId xmlns:a16="http://schemas.microsoft.com/office/drawing/2014/main" id="{BAE29A2F-242F-4723-A475-AE3E6422FBC1}"/>
              </a:ext>
            </a:extLst>
          </p:cNvPr>
          <p:cNvSpPr>
            <a:spLocks xmlns:a="http://schemas.openxmlformats.org/drawingml/2006/main" noGrp="1"/>
          </p:cNvSpPr>
          <p:nvPr/>
        </p:nvSpPr>
        <p:spPr>
          <a:xfrm xmlns:a="http://schemas.openxmlformats.org/drawingml/2006/main">
            <a:off x="7953375" y="3048000"/>
            <a:ext cx="3524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No walking, cycling or</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vehicle exposure counts</a:t>
            </a:r>
          </a:p>
          <a:p xmlns:a="http://schemas.openxmlformats.org/drawingml/2006/main">
            <a:r>
              <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Incomplete reporting</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and unresolved locations</a:t>
            </a:r>
          </a:p>
          <a:p xmlns:a="http://schemas.openxmlformats.org/drawingml/2006/main">
            <a:r>
              <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Street changes need</a:t>
            </a:r>
          </a:p>
          <a:p xmlns:a="http://schemas.openxmlformats.org/drawingml/2006/main">
            <a:pPr>
              <a:defRPr sz="1950" b="0">
                <a:solidFill>
                  <a:srgbClr val="173447"/>
                </a:solidFill>
                <a:latin typeface="Calibri"/>
                <a:ea typeface="Calibri"/>
                <a:cs typeface="Calibri"/>
              </a:defRPr>
            </a:pPr>
            <a:r>
              <a:rPr sz="1950" b="0">
                <a:solidFill>
                  <a:srgbClr val="173447"/>
                </a:solidFill>
                <a:latin typeface="Calibri"/>
                <a:ea typeface="Calibri"/>
                <a:cs typeface="Calibri"/>
              </a:rPr>
              <a:t>independent review</a:t>
            </a:r>
          </a:p>
        </p:txBody>
      </p:sp>
      <p:sp>
        <p:nvSpPr>
          <p:cNvPr id="7" name="">
            <a:extLst xmlns:a="http://schemas.openxmlformats.org/drawingml/2006/main">
              <a:ext uri="{FF2B5EF4-FFF2-40B4-BE49-F238E27FC236}">
                <a16:creationId xmlns:a16="http://schemas.microsoft.com/office/drawing/2014/main" id="{950AB945-9389-4C0F-BCB9-B12A281A2394}"/>
              </a:ext>
            </a:extLst>
          </p:cNvPr>
          <p:cNvSpPr>
            <a:spLocks xmlns:a="http://schemas.openxmlformats.org/drawingml/2006/main" noGrp="1"/>
          </p:cNvSpPr>
          <p:nvPr/>
        </p:nvSpPr>
        <p:spPr>
          <a:xfrm xmlns:a="http://schemas.openxmlformats.org/drawingml/2006/main">
            <a:off x="619125" y="59245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975"/>
                </a:solidFill>
                <a:latin typeface="Calibri"/>
                <a:ea typeface="Calibri"/>
                <a:cs typeface="Calibri"/>
              </a:defRPr>
            </a:pPr>
            <a:r>
              <a:rPr sz="1650" b="0">
                <a:solidFill>
                  <a:srgbClr val="536975"/>
                </a:solidFill>
                <a:latin typeface="Calibri"/>
                <a:ea typeface="Calibri"/>
                <a:cs typeface="Calibri"/>
              </a:rPr>
              <a:t>All pedestrian- or cyclist-involved reported crashes. Axis starts at zero.</a:t>
            </a:r>
          </a:p>
        </p:txBody>
      </p:sp>
    </p:spTree>
    <p:extLst>
      <p:ext uri="{BB962C8B-B14F-4D97-AF65-F5344CB8AC3E}">
        <p14:creationId xmlns:p14="http://schemas.microsoft.com/office/powerpoint/2010/main" val="546111317"/>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8BE337-D6ED-401D-A0FC-3011BA6A5885}"/>
              </a:ext>
            </a:extLst>
          </p:cNvPr>
          <p:cNvSpPr>
            <a:spLocks xmlns:a="http://schemas.openxmlformats.org/drawingml/2006/main" noGrp="1"/>
          </p:cNvSpPr>
          <p:nvPr/>
        </p:nvSpPr>
        <p:spPr>
          <a:xfrm xmlns:a="http://schemas.openxmlformats.org/drawingml/2006/main">
            <a:off x="571500" y="42862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7"/>
                </a:solidFill>
                <a:latin typeface="Calibri"/>
                <a:ea typeface="Calibri"/>
                <a:cs typeface="Calibri"/>
              </a:defRPr>
            </a:pPr>
            <a:r>
              <a:rPr sz="3300" b="1">
                <a:solidFill>
                  <a:srgbClr val="173447"/>
                </a:solidFill>
                <a:latin typeface="Calibri"/>
                <a:ea typeface="Calibri"/>
                <a:cs typeface="Calibri"/>
              </a:rPr>
              <a:t>Next steps for city decision-makers</a:t>
            </a:r>
          </a:p>
        </p:txBody>
      </p:sp>
      <p:sp>
        <p:nvSpPr>
          <p:cNvPr id="2" name="">
            <a:extLst xmlns:a="http://schemas.openxmlformats.org/drawingml/2006/main">
              <a:ext uri="{FF2B5EF4-FFF2-40B4-BE49-F238E27FC236}">
                <a16:creationId xmlns:a16="http://schemas.microsoft.com/office/drawing/2014/main" id="{5DD3D02E-947C-4004-A99F-EFE0A4CA01C6}"/>
              </a:ext>
            </a:extLst>
          </p:cNvPr>
          <p:cNvSpPr>
            <a:spLocks xmlns:a="http://schemas.openxmlformats.org/drawingml/2006/main" noGrp="1"/>
          </p:cNvSpPr>
          <p:nvPr/>
        </p:nvSpPr>
        <p:spPr>
          <a:xfrm xmlns:a="http://schemas.openxmlformats.org/drawingml/2006/main">
            <a:off x="571500" y="641032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975"/>
                </a:solidFill>
                <a:latin typeface="Calibri"/>
                <a:ea typeface="Calibri"/>
                <a:cs typeface="Calibri"/>
              </a:defRPr>
            </a:pPr>
            <a:r>
              <a:rPr sz="1125" b="0">
                <a:solidFill>
                  <a:srgbClr val="536975"/>
                </a:solidFill>
                <a:latin typeface="Calibri"/>
                <a:ea typeface="Calibri"/>
                <a:cs typeface="Calibri"/>
              </a:rPr>
              <a:t>CAMBRIDGE ROAD SAFETY  /  PS01  /  2023–2025</a:t>
            </a:r>
          </a:p>
        </p:txBody>
      </p:sp>
      <p:sp>
        <p:nvSpPr>
          <p:cNvPr id="3" name="">
            <a:extLst xmlns:a="http://schemas.openxmlformats.org/drawingml/2006/main">
              <a:ext uri="{FF2B5EF4-FFF2-40B4-BE49-F238E27FC236}">
                <a16:creationId xmlns:a16="http://schemas.microsoft.com/office/drawing/2014/main" id="{E3AD459D-CFFF-4819-A1A2-A4F2EE4900D8}"/>
              </a:ext>
            </a:extLst>
          </p:cNvPr>
          <p:cNvSpPr>
            <a:spLocks xmlns:a="http://schemas.openxmlformats.org/drawingml/2006/main" noGrp="1"/>
          </p:cNvSpPr>
          <p:nvPr/>
        </p:nvSpPr>
        <p:spPr>
          <a:xfrm xmlns:a="http://schemas.openxmlformats.org/drawingml/2006/main">
            <a:off x="11144250" y="63722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975"/>
                </a:solidFill>
                <a:latin typeface="Calibri"/>
                <a:ea typeface="Calibri"/>
                <a:cs typeface="Calibri"/>
              </a:defRPr>
            </a:pPr>
            <a:r>
              <a:rPr sz="1425" b="0">
                <a:solidFill>
                  <a:srgbClr val="536975"/>
                </a:solidFill>
                <a:latin typeface="Calibri"/>
                <a:ea typeface="Calibri"/>
                <a:cs typeface="Calibri"/>
              </a:rPr>
              <a:t>06</a:t>
            </a:r>
          </a:p>
        </p:txBody>
      </p:sp>
      <p:sp>
        <p:nvSpPr>
          <p:cNvPr id="4" name="">
            <a:extLst xmlns:a="http://schemas.openxmlformats.org/drawingml/2006/main">
              <a:ext uri="{FF2B5EF4-FFF2-40B4-BE49-F238E27FC236}">
                <a16:creationId xmlns:a16="http://schemas.microsoft.com/office/drawing/2014/main" id="{04217159-4A27-4EDE-AF40-93CB2582F222}"/>
              </a:ext>
            </a:extLst>
          </p:cNvPr>
          <p:cNvSpPr>
            <a:spLocks xmlns:a="http://schemas.openxmlformats.org/drawingml/2006/main" noGrp="1"/>
          </p:cNvSpPr>
          <p:nvPr/>
        </p:nvSpPr>
        <p:spPr>
          <a:xfrm xmlns:a="http://schemas.openxmlformats.org/drawingml/2006/main">
            <a:off x="619125" y="1619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97F7C"/>
                </a:solidFill>
                <a:latin typeface="Calibri"/>
                <a:ea typeface="Calibri"/>
                <a:cs typeface="Calibri"/>
              </a:defRPr>
            </a:pPr>
            <a:r>
              <a:rPr sz="2700" b="1">
                <a:solidFill>
                  <a:srgbClr val="197F7C"/>
                </a:solidFill>
                <a:latin typeface="Calibri"/>
                <a:ea typeface="Calibri"/>
                <a:cs typeface="Calibri"/>
              </a:rPr>
              <a:t>01  Commission field safety audits</a:t>
            </a:r>
          </a:p>
        </p:txBody>
      </p:sp>
      <p:sp>
        <p:nvSpPr>
          <p:cNvPr id="5" name="">
            <a:extLst xmlns:a="http://schemas.openxmlformats.org/drawingml/2006/main">
              <a:ext uri="{FF2B5EF4-FFF2-40B4-BE49-F238E27FC236}">
                <a16:creationId xmlns:a16="http://schemas.microsoft.com/office/drawing/2014/main" id="{29530BB5-7E00-4580-8C40-C5A2AAA0308A}"/>
              </a:ext>
            </a:extLst>
          </p:cNvPr>
          <p:cNvSpPr>
            <a:spLocks xmlns:a="http://schemas.openxmlformats.org/drawingml/2006/main" noGrp="1"/>
          </p:cNvSpPr>
          <p:nvPr/>
        </p:nvSpPr>
        <p:spPr>
          <a:xfrm xmlns:a="http://schemas.openxmlformats.org/drawingml/2006/main">
            <a:off x="619125" y="2381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47"/>
                </a:solidFill>
                <a:latin typeface="Calibri"/>
                <a:ea typeface="Calibri"/>
                <a:cs typeface="Calibri"/>
              </a:defRPr>
            </a:pPr>
            <a:r>
              <a:rPr sz="2175" b="0">
                <a:solidFill>
                  <a:srgbClr val="173447"/>
                </a:solidFill>
                <a:latin typeface="Calibri"/>
                <a:ea typeface="Calibri"/>
                <a:cs typeface="Calibri"/>
              </a:rPr>
              <a:t>Start with the six provisional candidates. Examine current crossings,</a:t>
            </a:r>
          </a:p>
          <a:p xmlns:a="http://schemas.openxmlformats.org/drawingml/2006/main">
            <a:pPr>
              <a:defRPr sz="2175" b="0">
                <a:solidFill>
                  <a:srgbClr val="173447"/>
                </a:solidFill>
                <a:latin typeface="Calibri"/>
                <a:ea typeface="Calibri"/>
                <a:cs typeface="Calibri"/>
              </a:defRPr>
            </a:pPr>
            <a:r>
              <a:rPr sz="2175" b="0">
                <a:solidFill>
                  <a:srgbClr val="173447"/>
                </a:solidFill>
                <a:latin typeface="Calibri"/>
                <a:ea typeface="Calibri"/>
                <a:cs typeface="Calibri"/>
              </a:rPr>
              <a:t>visibility and turning interactions, and check recent street changes.</a:t>
            </a:r>
          </a:p>
        </p:txBody>
      </p:sp>
      <p:sp>
        <p:nvSpPr>
          <p:cNvPr id="6" name="">
            <a:extLst xmlns:a="http://schemas.openxmlformats.org/drawingml/2006/main">
              <a:ext uri="{FF2B5EF4-FFF2-40B4-BE49-F238E27FC236}">
                <a16:creationId xmlns:a16="http://schemas.microsoft.com/office/drawing/2014/main" id="{A88AD756-3A1D-472B-ABFC-DD837D445548}"/>
              </a:ext>
            </a:extLst>
          </p:cNvPr>
          <p:cNvSpPr>
            <a:spLocks xmlns:a="http://schemas.openxmlformats.org/drawingml/2006/main" noGrp="1"/>
          </p:cNvSpPr>
          <p:nvPr/>
        </p:nvSpPr>
        <p:spPr>
          <a:xfrm xmlns:a="http://schemas.openxmlformats.org/drawingml/2006/main">
            <a:off x="619125" y="3905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97F7C"/>
                </a:solidFill>
                <a:latin typeface="Calibri"/>
                <a:ea typeface="Calibri"/>
                <a:cs typeface="Calibri"/>
              </a:defRPr>
            </a:pPr>
            <a:r>
              <a:rPr sz="2700" b="1">
                <a:solidFill>
                  <a:srgbClr val="197F7C"/>
                </a:solidFill>
                <a:latin typeface="Calibri"/>
                <a:ea typeface="Calibri"/>
                <a:cs typeface="Calibri"/>
              </a:rPr>
              <a:t>02  Strengthen the evidence before investment</a:t>
            </a:r>
          </a:p>
        </p:txBody>
      </p:sp>
      <p:sp>
        <p:nvSpPr>
          <p:cNvPr id="7" name="">
            <a:extLst xmlns:a="http://schemas.openxmlformats.org/drawingml/2006/main">
              <a:ext uri="{FF2B5EF4-FFF2-40B4-BE49-F238E27FC236}">
                <a16:creationId xmlns:a16="http://schemas.microsoft.com/office/drawing/2014/main" id="{4A159966-0820-4EDB-9374-3A11DD9493AD}"/>
              </a:ext>
            </a:extLst>
          </p:cNvPr>
          <p:cNvSpPr>
            <a:spLocks xmlns:a="http://schemas.openxmlformats.org/drawingml/2006/main" noGrp="1"/>
          </p:cNvSpPr>
          <p:nvPr/>
        </p:nvSpPr>
        <p:spPr>
          <a:xfrm xmlns:a="http://schemas.openxmlformats.org/drawingml/2006/main">
            <a:off x="619125" y="4714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447"/>
                </a:solidFill>
                <a:latin typeface="Calibri"/>
                <a:ea typeface="Calibri"/>
                <a:cs typeface="Calibri"/>
              </a:defRPr>
            </a:pPr>
            <a:r>
              <a:rPr sz="2175" b="0">
                <a:solidFill>
                  <a:srgbClr val="173447"/>
                </a:solidFill>
                <a:latin typeface="Calibri"/>
                <a:ea typeface="Calibri"/>
                <a:cs typeface="Calibri"/>
              </a:rPr>
              <a:t>Reconcile street labels and addresses. Collect exposure counts.</a:t>
            </a:r>
          </a:p>
          <a:p xmlns:a="http://schemas.openxmlformats.org/drawingml/2006/main">
            <a:pPr>
              <a:defRPr sz="2175" b="0">
                <a:solidFill>
                  <a:srgbClr val="173447"/>
                </a:solidFill>
                <a:latin typeface="Calibri"/>
                <a:ea typeface="Calibri"/>
                <a:cs typeface="Calibri"/>
              </a:defRPr>
            </a:pPr>
            <a:r>
              <a:rPr sz="2175" b="0">
                <a:solidFill>
                  <a:srgbClr val="173447"/>
                </a:solidFill>
                <a:latin typeface="Calibri"/>
                <a:ea typeface="Calibri"/>
                <a:cs typeface="Calibri"/>
              </a:rPr>
              <a:t>Use the additional evidence to select and evaluate interventions.</a:t>
            </a:r>
          </a:p>
        </p:txBody>
      </p:sp>
    </p:spTree>
    <p:extLst>
      <p:ext uri="{BB962C8B-B14F-4D97-AF65-F5344CB8AC3E}">
        <p14:creationId xmlns:p14="http://schemas.microsoft.com/office/powerpoint/2010/main" val="1865013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2026-09-20T02:57:50.8810000Z</dcterms:created>
  <dcterms:modified xsi:type="dcterms:W3CDTF">2026-09-20T02:57:50.8820000Z</dcterms:modified>
</coreProperties>
</file>